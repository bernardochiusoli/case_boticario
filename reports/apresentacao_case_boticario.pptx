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5A898BF-CAFC-F221-A35E-9E77AC7D3855}">
          <p14:sldIdLst>
            <p14:sldId id="256"/>
            <p14:sldId id="257"/>
            <p14:sldId id="258"/>
          </p14:sldIdLst>
        </p14:section>
        <p14:section name="A base" id="{C25A9914-0D1C-A236-4B05-EDA4FEE1895C}">
          <p14:sldIdLst>
            <p14:sldId id="259"/>
            <p14:sldId id="260"/>
          </p14:sldIdLst>
        </p14:section>
        <p14:section name="Insights" id="{13A520BE-31DF-FB12-CC49-EB3D05307FCF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Forecast" id="{FB59F457-0CBD-0ACE-309E-4AB4AB4A0A25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IA para banners" id="{0D531F99-3B99-574F-A897-36E6F79455CB}">
          <p14:sldIdLst>
            <p14:sldId id="279"/>
            <p14:sldId id="280"/>
            <p14:sldId id="281"/>
            <p14:sldId id="282"/>
            <p14:sldId id="283"/>
          </p14:sldIdLst>
        </p14:section>
        <p14:section name="Fechamento" id="{0E30DA41-1383-3B20-D925-A0D0A5359D6B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</c:v>
                </c:pt>
              </c:strCache>
            </c:strRef>
          </c:tx>
          <c:spPr>
            <a:solidFill>
              <a:srgbClr val="0B5A4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971-45D4-A9E7-F71A0199ABF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971-45D4-A9E7-F71A0199ABF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971-45D4-A9E7-F71A0199ABF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971-45D4-A9E7-F71A0199ABF7}"/>
              </c:ext>
            </c:extLst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971-45D4-A9E7-F71A0199ABF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971-45D4-A9E7-F71A0199ABF7}"/>
              </c:ext>
            </c:extLst>
          </c:dPt>
          <c:dPt>
            <c:idx val="6"/>
            <c:invertIfNegative val="0"/>
            <c:bubble3D val="0"/>
            <c:spPr>
              <a:solidFill>
                <a:srgbClr val="4A4F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971-45D4-A9E7-F71A0199ABF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F2622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Seg</c:v>
                </c:pt>
                <c:pt idx="1">
                  <c:v>Ter</c:v>
                </c:pt>
                <c:pt idx="2">
                  <c:v>Qua</c:v>
                </c:pt>
                <c:pt idx="3">
                  <c:v>Qui</c:v>
                </c:pt>
                <c:pt idx="4">
                  <c:v>Sex</c:v>
                </c:pt>
                <c:pt idx="5">
                  <c:v>Sáb</c:v>
                </c:pt>
                <c:pt idx="6">
                  <c:v>Dom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1.06</c:v>
                </c:pt>
                <c:pt idx="2">
                  <c:v>1.04</c:v>
                </c:pt>
                <c:pt idx="3">
                  <c:v>1.04</c:v>
                </c:pt>
                <c:pt idx="4">
                  <c:v>1.1000000000000001</c:v>
                </c:pt>
                <c:pt idx="5">
                  <c:v>0.99</c:v>
                </c:pt>
                <c:pt idx="6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971-45D4-A9E7-F71A0199AB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4F4A"/>
                </a:solidFill>
                <a:latin typeface="+mn-lt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.6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App</c:v>
                </c:pt>
              </c:strCache>
            </c:strRef>
          </c:tx>
          <c:spPr>
            <a:ln w="38100" cap="flat">
              <a:solidFill>
                <a:srgbClr val="0B5A43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B5A43"/>
              </a:solidFill>
              <a:ln w="9525" cap="flat">
                <a:solidFill>
                  <a:srgbClr val="0B5A43"/>
                </a:solidFill>
                <a:prstDash val="solid"/>
                <a:round/>
              </a:ln>
              <a:effectLst/>
            </c:spPr>
          </c:marker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622"/>
                    </a:solidFill>
                    <a:latin typeface="+mn-lt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nov</c:v>
                </c:pt>
                <c:pt idx="1">
                  <c:v>dez</c:v>
                </c:pt>
                <c:pt idx="2">
                  <c:v>jan</c:v>
                </c:pt>
                <c:pt idx="3">
                  <c:v>fev</c:v>
                </c:pt>
                <c:pt idx="4">
                  <c:v>mar</c:v>
                </c:pt>
                <c:pt idx="5">
                  <c:v>abr</c:v>
                </c:pt>
                <c:pt idx="6">
                  <c:v>mai</c:v>
                </c:pt>
                <c:pt idx="7">
                  <c:v>jun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76.099999999999994</c:v>
                </c:pt>
                <c:pt idx="1">
                  <c:v>72.099999999999994</c:v>
                </c:pt>
                <c:pt idx="2">
                  <c:v>75.7</c:v>
                </c:pt>
                <c:pt idx="3">
                  <c:v>74.7</c:v>
                </c:pt>
                <c:pt idx="4">
                  <c:v>76.599999999999994</c:v>
                </c:pt>
                <c:pt idx="5">
                  <c:v>77.5</c:v>
                </c:pt>
                <c:pt idx="6">
                  <c:v>78.3</c:v>
                </c:pt>
                <c:pt idx="7">
                  <c:v>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80-4AE4-8B8F-F44F01A1025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4F4A"/>
                </a:solidFill>
                <a:latin typeface="+mn-lt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"/>
          <c:min val="68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WAPE médio (%)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E72-457A-83CC-4F713E1E118D}"/>
              </c:ext>
            </c:extLst>
          </c:dPt>
          <c:dPt>
            <c:idx val="1"/>
            <c:invertIfNegative val="0"/>
            <c:bubble3D val="0"/>
            <c:spPr>
              <a:solidFill>
                <a:srgbClr val="B8BD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72-457A-83CC-4F713E1E118D}"/>
              </c:ext>
            </c:extLst>
          </c:dPt>
          <c:dPt>
            <c:idx val="2"/>
            <c:invertIfNegative val="0"/>
            <c:bubble3D val="0"/>
            <c:spPr>
              <a:solidFill>
                <a:srgbClr val="B8BD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72-457A-83CC-4F713E1E118D}"/>
              </c:ext>
            </c:extLst>
          </c:dPt>
          <c:dPt>
            <c:idx val="3"/>
            <c:invertIfNegative val="0"/>
            <c:bubble3D val="0"/>
            <c:spPr>
              <a:solidFill>
                <a:srgbClr val="B8BD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E72-457A-83CC-4F713E1E118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F2622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LightGBM</c:v>
                </c:pt>
                <c:pt idx="1">
                  <c:v>Média 4 semanas</c:v>
                </c:pt>
                <c:pt idx="2">
                  <c:v>Ridge</c:v>
                </c:pt>
                <c:pt idx="3">
                  <c:v>Repetir semana passada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24.6</c:v>
                </c:pt>
                <c:pt idx="1">
                  <c:v>29.5</c:v>
                </c:pt>
                <c:pt idx="2">
                  <c:v>31.3</c:v>
                </c:pt>
                <c:pt idx="3">
                  <c:v>33.6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E72-457A-83CC-4F713E1E11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4F4A"/>
                </a:solidFill>
                <a:latin typeface="+mn-lt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80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Em uma frase: vou mostrar o que os dados de 8 meses do e-commerce dizem, como construí um forecast diário que erra 16% menos que as regras simples, e como eu levaria a ideia do hackathon de imagens para um MVP viável.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Combinar com a banca: perguntas no fim de cada bloco ou no final. Sugestão: no final, para não estourar o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de elevador. Se a banca só lembrar de uma coisa, que sejam estes três pontos.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rigor antes de velocidade. A categoria numérica não é lixo, é venda real com rótulo corrompido. A receita negativa tem o mesmo preço por item das positivas, então é sinal invertido. Se eu tivesse deletado ou somado direto, todos os números seguintes estariam errados.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série tem dois regimes. Novembro é um mês inteiro de campanha, com receita diária 2,5 vezes maior. Qualquer média simples do período fica distorcida, e o modelo precisa saber disso.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Decomposição da receita. O que mudou em novembro foi o número de pedidos, não o valor do pedido. Preço e desconto andam em espelho no período inteiro. Implicação: campanha deve ser avaliada por margem, não só por receita.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Desconto puxa volume, correlação de 0,56 entre desconto e itens vendidos. Mas a semana do Dia das Mães (losangos verdes) vende muito com o desconto mais baixo do período. Dia típico = mediana de dezembro a junho.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Recomendação: disparos e campanhas começando na quinta para capturar a sexta. Domingo é o dia mais barato para testar criativo, porque o custo de oportunidade é menor.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calor da receita média por dia da semana e hora, dezembro a junho. Hipótese inicial era App à noite e Site de dia; os dois têm o mesmo formato, a diferença é de intensidade. Em dia de campanha a curva muda: na Black Friday a meia-noite já vende 3%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a venda sobe na semana anterior à data e despenca logo depois: dois dias após os Namorados, a receita caiu para R$ 0,8 mi, menos da metade de um dia típico. Isso vai virar feature no modelo: dias até o evento.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provável: o crescimento do App é migração ou é novo cliente? A base não permite responder, porque não tem identificação de cliente. Seria o próximo estudo.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bloco de insights: cada recomendação está ligada a um número que mostrei.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decisões antes de escolher algoritmo. Regra contra vazamento: se a informação não existe no momento da previsão, não entra. Como prevejo até 7 dias à frente, o menor lag permitido é 7. Itens, pedidos e desconto do próprio dia ficam fora.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Backtest walk-forward com janela expansível: treina até março e testa abril; até abril e testa maio; até maio e testa junho. As features vêm direto da EDA: padrão semanal, rampa antes das datas de presente e patamar recente.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baseline, nenhum número de erro significa nada. A pergunta é: o modelo erra menos do que as regras que o time já usaria?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Tradução: a cada R$ 100 vendidos, o modelo erra em média R$ 25, contra R$ 30 da melhor regra simples. A Ridge perde para a média de 4 semanas porque a relação não é linear e ela extrapola mal o nível depois de novembro. Daqui em diante, tudo é sobre o modelo vencedor.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8 meses de base, cada data comemorativa aparece uma vez. Nenhum algoritmo aprende o efeito de algo que nunca viu. Por isso usei features genéricas de evento, e junho já se beneficia de ter visto maio. Com 2 anos de histórico, entra o lag de 52 semanas.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do LightGBM treinado até 31 de maio, aplicado aos dias de junho. Mede quanto cada feature empurrou cada previsão. Todas as análises de importância são do modelo vencedor.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meta era 80% de cobertura; chegamos a 65%. Honestamente: com um ano incompleto, a faixa ainda é larga e pouco calibrada nas datas sazonais. Em dias regulares, serve para estoque e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de limitação com naturalidade: é sinal de domínio, não de fraqueza. O maior ganho esperado é o calendário comercial, porque o time de campanhas já sabe com antecedência o que vai acontecer.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resposta curta: não uso a ferramenta não homologada e não mato a ideia. Tradução para o time: embedding é a impressão digital numérica da imagem; zero-shot é perguntar ao modelo se o banner tem preço em destaque sem precisar ensinar com exemplos.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time no-code atua nas duas pontas: define a rubrica de marca e consome o dashboard. O modelo de performance pode ser uma regressão logística ou LightGBM sobre embeddings e features, prevendo CTR acima da mediana.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ticket médio vem da Seção 1: isso amarra as duas partes do case. Os cenários são hipotéticos e estão marcados assim. A mensagem para gestão sênior: investimento pequeno, em etapas, cada uma com saída barata se não funcionar.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Gestão sênior quer saber o que estou pedindo, quanto custa e quando decide de novo. Este slide responde as três.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proposta de valor, não com obrigado. Depois, abrir para perguntas. Perguntas prováveis: vazamento, por que WAPE, como iria para produção, e se o comercial mudar a campanha de última 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B5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7899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7764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0B5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9718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Case Técnico · Especialista de Dados I · Grupo Boticário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655" y="102160"/>
            <a:ext cx="1499894" cy="376307"/>
          </a:xfrm>
          <a:prstGeom prst="rect">
            <a:avLst/>
          </a:prstGeom>
        </p:spPr>
      </p:pic>
      <p:sp>
        <p:nvSpPr>
          <p:cNvPr id="3" name="CaixaDeTexto 2"/>
          <p:cNvSpPr txBox="1"/>
          <p:nvPr userDrawn="1"/>
        </p:nvSpPr>
        <p:spPr>
          <a:xfrm>
            <a:off x="9800705" y="5706070"/>
            <a:ext cx="192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Bernardo</a:t>
            </a:r>
            <a:r>
              <a:rPr lang="pt-BR" sz="1000" baseline="0" dirty="0" smtClean="0"/>
              <a:t> </a:t>
            </a:r>
            <a:r>
              <a:rPr lang="pt-BR" sz="1000" baseline="0" dirty="0" err="1" smtClean="0"/>
              <a:t>Chiusoli</a:t>
            </a:r>
            <a:r>
              <a:rPr lang="pt-BR" sz="1000" baseline="0" dirty="0" smtClean="0"/>
              <a:t> – </a:t>
            </a:r>
            <a:r>
              <a:rPr lang="pt-BR" sz="1000" baseline="0" dirty="0" err="1" smtClean="0"/>
              <a:t>Espec</a:t>
            </a:r>
            <a:r>
              <a:rPr lang="pt-BR" sz="1000" baseline="0" dirty="0" smtClean="0"/>
              <a:t> Dados I</a:t>
            </a:r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Prever a venda diária e pontuar banners com IA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77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3"/>
                </a:solidFill>
              </a:rPr>
              <a:t>Case Técnico · Especialista de Dados I · E-commerce Grupo Boticário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Agenda: quatro blocos, cerca de 40 minutos e 20 para conversa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606040" cy="39319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 base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O que encontrei antes de analisar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06040" cy="39319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Insights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4747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Preço, dia da semana, hora e ocasião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12 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606040" cy="39319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Forecast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4747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Decisões, validação, resultado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13 min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52560" y="1645920"/>
            <a:ext cx="2606040" cy="39319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2688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04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2926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IA para banners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4747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Condução, arquitetura, MVP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 min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chemeClr val="tx2"/>
                </a:solidFill>
              </a:rPr>
              <a:t>Resumo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b="1" dirty="0" err="1" smtClean="0">
                <a:solidFill>
                  <a:schemeClr val="tx2"/>
                </a:solidFill>
              </a:rPr>
              <a:t>executivo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INSIGHT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Black Friday é demanda comprada; Dia das Mães é orgânica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 BF, preço por item de R$ 33 com 55% de desconto. No pico das Mães, R$ 70 com 29%. Desconto agressivo em data de presente transfere margem.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FORECAST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240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16% menos erro que a melhor regra simples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682767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LightGBM validado mês a mês: WAPE de 24,6% (18,9% em meses sem data de presente). Datas nunca vistas pedem ajuste comercial.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IA DE IMAGENS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2402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MVP de 6 semanas na stack homologada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6576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Embeddings, zero-shot e LLM com rubrica de marca, score validado por teste A/B, investimento liberado em etapas.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accent6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971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Antes de analisar: o que a base esconde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Três problemas na base, tratados antes de qualquer gráfico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6%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243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das linhas com a categoria trocada por um número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Mesmas métricas das linhas válidas: são vendas reais. 57% recuperadas: se numa hora faltam 7 categorias e há 1 linha sem rótulo, a faltante é ela.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243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com receita negativa e itens positivos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4290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Preço por item em módulo igual ao das linhas positivas: erro de sinal, não devolução. Corrigido; sem isso, R$ 42 mi a menos.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2x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6243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um pedido pode contar em duas categorias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nr_pedidos não soma entre categorias. Ticket por categoria é confiável; o geral é aproximação. Documentado.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89.566 linhas · 242 dias completos (01/11/2025 a 30/06/2026) · grão hora × canal × categoria · R$ 532 mi de receita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accent6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971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O que os dados dizem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Novembro fez 26% da receita de 8 meses; depois, o patamar é R$ 1,8 mi por dia</a:t>
            </a:r>
            <a:endParaRPr lang="en-US" sz="2800" dirty="0"/>
          </a:p>
        </p:txBody>
      </p:sp>
      <p:pic>
        <p:nvPicPr>
          <p:cNvPr id="3" name="02_serie_diaria" descr="/home/claude/case/reports/figures/slides/02_serie_dia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325"/>
            <a:ext cx="11064240" cy="43885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Linha verde: média móvel de 7 dias. Picos depois de novembro: Dia das Mães e Dia dos Namorados.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Preço médio: a receita de novembro é volume comprado com desconto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840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3,6x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pedidos por dia em novembro vs. dezembro a junho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3840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089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-37%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31089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preço por item: R$ 39 contra R$ 62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3840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572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53%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45720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 desconto sobre o preço cheio, contra 36% no resto do período</a:t>
            </a:r>
            <a:endParaRPr lang="en-US" sz="1400" dirty="0"/>
          </a:p>
        </p:txBody>
      </p:sp>
      <p:pic>
        <p:nvPicPr>
          <p:cNvPr id="12" name="02_preco_desconto" descr="/home/claude/case/reports/figures/slides/02_preco_desco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276234"/>
            <a:ext cx="6858000" cy="257985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754880" y="5760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receita = pedidos × itens por pedido × preço por item. Linha verde: preço por item. Coral: % de desconto (médias móveis de 7 dias).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Black Friday é demanda comprada; Dia das Mães é demanda orgânica</a:t>
            </a:r>
            <a:endParaRPr lang="en-US" sz="2800" dirty="0"/>
          </a:p>
        </p:txBody>
      </p:sp>
      <p:pic>
        <p:nvPicPr>
          <p:cNvPr id="3" name="02_desconto_volume" descr="/home/claude/case/reports/figures/slides/02_desconto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63640"/>
            <a:ext cx="6035040" cy="387936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00200"/>
          <a:ext cx="4754880" cy="23469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Black Friday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Pico Dia das Mães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Dia típico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Receita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R$ 14,0 mi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R$ 4,7 mi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R$ 1,7 mi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Preço por item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R$ 33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R$ 70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R$ 63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Ticket médio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R$ 56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R$ 93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R$ 92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% desconto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29%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33%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0" y="42062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Implicação: no Dia das Mães o cliente compra de qualquer jeito e paga mais. Desconto agressivo ali só transfere margem.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Sexta vende 10% acima da média; domingo, 22% abaixo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17320"/>
          <a:ext cx="69494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600200"/>
            <a:ext cx="3749040" cy="42062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82880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Como calculei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Índice = média do dia / média da semana, de dezembro a junho, sem dias de evento. Com novembro, a sexta subiria para 1,18 só por causa da Black Friday.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sábado esconde uma diferença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App, sábado é dia normal (1,01). No Site, cai 14%. Fim de semana é dia de App.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Ao longo do dia: dois picos, 10h-14h e 20h-21h</a:t>
            </a:r>
            <a:endParaRPr lang="en-US" sz="2800" dirty="0"/>
          </a:p>
        </p:txBody>
      </p:sp>
      <p:pic>
        <p:nvPicPr>
          <p:cNvPr id="3" name="02_heatmap_dia_hora" descr="/home/claude/case/reports/figures/slides/02_heatmap_dia_h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517" y="1371600"/>
            <a:ext cx="8700487" cy="3383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31%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874520" y="4846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 receita do dia já aconteceu ao meio-dia: dá para estimar o fechamento e corrigir mídia no mesmo dia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~1/3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623560" y="4846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 receita em 5 horas (10h-14h); o Site concentra mais no horário comercial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892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19h30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9372600" y="48463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melhor horário para push do App, antes do segundo pico, onde o App pesa mais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Em datas de presente muda o mix, não só o volume: Gifts triplica</a:t>
            </a:r>
            <a:endParaRPr lang="en-US" sz="2800" dirty="0"/>
          </a:p>
        </p:txBody>
      </p:sp>
      <p:pic>
        <p:nvPicPr>
          <p:cNvPr id="3" name="02_mix_ocasiao" descr="/home/claude/case/reports/figures/slides/02_mix_ocasi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38634"/>
            <a:ext cx="11064240" cy="34320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Gifts: 8% da receita num dia típico, 21% antes do Dia das Mães e 18% antes dos Namorados. Perfumaria masculina vai a 36% nos Namorados. </a:t>
            </a:r>
            <a:r>
              <a:rPr lang="en-US" sz="1600" b="1" dirty="0">
                <a:solidFill>
                  <a:schemeClr val="tx2"/>
                </a:solidFill>
              </a:rPr>
              <a:t>Estoque e vitrine precisam mudar de mix nessas semanas.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O App é o canal de volume e segue crescendo: de 72% para 79% da receita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1732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600200"/>
          <a:ext cx="4114800" cy="22860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App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Site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% da receita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76%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Ticket médio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R$ 80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R$ 88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Preço por item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R$ 53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R$ 58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% desconto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43%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38%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498080" y="41148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App compra mais barato e com mais desconto; o Site compra mais caro e é menos sensível a preço. Priorizar experiência e CRM no App.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O que eu faria com esses insights a partir de amanhã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Avaliar campanhas por margem, não por receita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267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Novembro vende 2,5x mais por dia, com preço 37% menor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7830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Desconto conservador em datas de presente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2677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Dia das Mães vende com preço acima do normal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246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200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Disparos na quinta, testes de criativo no domingo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7307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Sexta +10%, domingo -22%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301752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3246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200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E-mail de manhã, push do App às 19h30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7307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Picos 10h-14h e 20h-21h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7091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5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663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Mix de estoque e vitrine por ocasião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1937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Gifts vai de 8% para 21% no Dia das Mães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448056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47091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6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663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Prever o fechamento do dia ao meio-dia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51937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31% da receita já aconteceu às 12h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accent6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971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Forecast da venda diária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Com 242 dias, o desafio não é o algoritmo: é validar direito e lidar com eventos únicos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prevejo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Receita diária total (App + Site), em log: os picos são multiplicativos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60020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Para quando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Próximos 7 dias, previsão feita no fim de cada dia. Isso define as features permitidas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Como meço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805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WAPE: quanto erramos a cada R$ 100 vendidos. Estável em dia de venda baixa, ao contrário do MAPE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3703320"/>
            <a:ext cx="5440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Como valido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4805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Treino com o passado, teste no mês seguinte, três vezes. Nunca split aleatório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Validação: o modelo sempre treina com o passado e é testado num mês que nunca viu</a:t>
            </a:r>
            <a:endParaRPr lang="en-US" sz="2800" dirty="0"/>
          </a:p>
        </p:txBody>
      </p:sp>
      <p:pic>
        <p:nvPicPr>
          <p:cNvPr id="3" name="03_esquema_backtest" descr="/home/claude/case/reports/figures/slides/03_esquema_back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87" y="1463040"/>
            <a:ext cx="10367947" cy="2651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389120"/>
            <a:ext cx="35204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Calendário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dia da semana, dia do mês, feriado, quinzena de pagamento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97680" y="4389120"/>
            <a:ext cx="35204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Eventos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dias até a próxima data de presente, semana pré-evento, pós-evento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46720" y="4389120"/>
            <a:ext cx="35204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2104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Histórico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venda de 7 e 14 dias antes, médias de 1 e 4 semanas, mesmo dia nas últimas 4 semanas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Testei duas regras simples e dois modelos, do mais simples ao mais flexível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Modelo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Por que testar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Papel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Repetir a semana passada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regra mais simples possível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Baseline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Média do mesmo dia nas últimas 4 semanas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Regra comum de planejamento no varejo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Baseline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Ridge (regressão linear)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Interpretável e robusta com pouco dado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Candidato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LightGBM (árvores em sequência)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Pega interações, como sexta na semana pré-evento; árvores rasas evitam decorar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Candidato</a:t>
                      </a:r>
                      <a:endParaRPr lang="en-US" sz="15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Por que não redes neurais: </a:t>
            </a:r>
            <a:r>
              <a:rPr lang="en-US" sz="1500" dirty="0">
                <a:solidFill>
                  <a:schemeClr val="tx1"/>
                </a:solidFill>
              </a:rPr>
              <a:t>com cerca de 240 pontos diários, uma LSTM decora o treino. O volume de dados não justifica. Prophet e ARIMA ficam como comparação futura: lidam pior com a rampa dos eventos.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O LightGBM erra 16% menos que a melhor regra simples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1732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60020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Abr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Mai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Jun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LightGBM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10,7%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36,7%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2"/>
                          </a:solidFill>
                        </a:rPr>
                        <a:t>26,4%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Média 4 sem.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14,2%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40,6%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33,6%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Semana passada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13,7%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52,4%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34,8%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589520" y="36576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Vence nos três meses. Variar hiperparâmetros muda o WAPE entre 24,6% e 25,4%: o resultado é estável, não sorte de ajuste.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7589520" y="5212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WAPE: erro absoluto somado / receita somada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O erro se concentra no Dia das Mães, que o modelo nunca viu no treino</a:t>
            </a:r>
            <a:endParaRPr lang="en-US" sz="2800" dirty="0"/>
          </a:p>
        </p:txBody>
      </p:sp>
      <p:pic>
        <p:nvPicPr>
          <p:cNvPr id="3" name="03_real_vs_previsto" descr="/home/claude/case/reports/figures/slides/03_real_vs_previs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62442"/>
            <a:ext cx="7589520" cy="28988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03920" y="1600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30%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24414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de todo o erro do backtest vem de uma única semana: a do Dia das Mães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33375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18,9%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1788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de WAPE em abril e junho, meses sem data de presente forte no meio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4983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Em produção: o modelo dá a linha de base e o comercial ajusta as datas sazonais com o plano de campanha.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O que move a previsão: patamar recente, proximidade de data de presente e calendário</a:t>
            </a:r>
            <a:endParaRPr lang="en-US" sz="2800" dirty="0"/>
          </a:p>
        </p:txBody>
      </p:sp>
      <p:pic>
        <p:nvPicPr>
          <p:cNvPr id="3" name="03_importancia_shap" descr="/home/claude/case/reports/figures/slides/03_importancia_s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4584"/>
            <a:ext cx="6949440" cy="319747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0" y="1554480"/>
            <a:ext cx="3840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01000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1691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Patamar das últimas semanas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103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Média de 4 semanas e venda de 7 dias antes: o melhor resumo do momento do negócio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3017520"/>
            <a:ext cx="3840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0100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3154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Dias até a data de presente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35661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 rampa antes do evento pesa mais que o dia em si, como a EDA mostrou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0" y="4480560"/>
            <a:ext cx="38404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01000" y="4663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3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0" y="46177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Calendário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5029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Dia do mês e dia da semana: efeitos estáveis, ligados a salário e rotina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Para planejar, uma faixa: primeira semana de julho entre R$ 11 e R$ 25 mi, mais provável R$ 14 mi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120640" cy="38039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Dia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Previsto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Faixa 10%-90%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Qua 01/07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R$ 2,1 mi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1,7 a 3,7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Qui 02/07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R$ 2,1 mi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1,7 a 3,7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Sex 03/07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R$ 2,0 mi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1,6 a 3,5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Sáb 04/07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R$ 1,8 mi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1,4 a 3,1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Dom 05/07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R$ 1,4 mi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1,1 a 2,4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Seg 06/07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R$ 2,3 mi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1,8 a 4,0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Ter 07/07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R$ 2,5 mi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2,0 a 4,3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03_faixa_previsao" descr="/home/claude/case/reports/figures/slides/03_faixa_previ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949151"/>
            <a:ext cx="5577840" cy="204529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035040" y="45720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faixa vem dos erros do próprio modelo no backtest (conformal). Cobriu 65% dos dias de teste, contra 51% da versão quantílica testada antes. Assimétrica para cima: o modelo subestima picos mais do que superestima.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Limitações assumidas e próximos passos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160020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Limitações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Cada evento sazonal aparece uma vez em 242 dias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Novembro é um regime à parte, sem outro novembro para validar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Desconto planejado não está na base, então não entra como feature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Três rodadas de backtest; o ideal seriam rodadas semanais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Próximos passos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Calendário comercial (campanha e desconto planejados) como feature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Forecast por canal e categoria com reconciliação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Lag de 52 semanas com um ano completo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Previsão do fechamento do dia ao meio-dia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Produção: job diário, retreino semanal, alerta de WAPE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accent6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971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IA para banners: inovação sem furar a governança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Condução: proteger a ideia do time e a segurança do grupo ao mesmo tempo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103120" cy="42062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Problema antes da ferramenta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4904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Que decisão o score vai apoiar? Escolher o banner da home, revisar antes de publicar?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98064" y="1600200"/>
            <a:ext cx="2103120" cy="42062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26664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026664" y="26060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Homologação em linguagem de negócio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74904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Segurança, LGPD, campanha não lançada vazando, custo sem controle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47488" y="1600200"/>
            <a:ext cx="2103120" cy="42062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76088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6060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Segurança e Arquitetura como aliadas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374904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Qual a alternativa homologada mais próxima? Pedido formal em paralelo, se fizer sentido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96912" y="1600200"/>
            <a:ext cx="2103120" cy="42062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25512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525512" y="26060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Cada um no que sabe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374904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Hackathon: rubrica de marca e uso. Dados: pipeline. Ninguém precisa aprender Python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46336" y="1600200"/>
            <a:ext cx="2103120" cy="42062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74936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9774936" y="26060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MVP com prazo e critério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774936" y="374904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6 semanas, um tipo de banner, métrica de sucesso definida no dia 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Arquitetura: cinco etapas, da imagem ao score no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965960" cy="26517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Inventário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Banners e metadados exportados do CMS</a:t>
            </a:r>
            <a:endParaRPr lang="en-US" sz="1300" dirty="0"/>
          </a:p>
        </p:txBody>
      </p:sp>
      <p:sp>
        <p:nvSpPr>
          <p:cNvPr id="6" name="seta0"/>
          <p:cNvSpPr/>
          <p:nvPr/>
        </p:nvSpPr>
        <p:spPr>
          <a:xfrm>
            <a:off x="2569464" y="3017520"/>
            <a:ext cx="219456" cy="292608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2834640" y="1828800"/>
            <a:ext cx="1965960" cy="26517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1752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Performance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69748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Impressões, CTR e receita do analytics: o rótulo do que é bom</a:t>
            </a:r>
            <a:endParaRPr lang="en-US" sz="1300" dirty="0"/>
          </a:p>
        </p:txBody>
      </p:sp>
      <p:sp>
        <p:nvSpPr>
          <p:cNvPr id="10" name="seta1"/>
          <p:cNvSpPr/>
          <p:nvPr/>
        </p:nvSpPr>
        <p:spPr>
          <a:xfrm>
            <a:off x="4855464" y="3017520"/>
            <a:ext cx="219456" cy="292608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0" y="1828800"/>
            <a:ext cx="1965960" cy="26517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0352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Leitura da imagem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69748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Cor, contraste, % de texto (OCR) e embeddings CLIP/SigLIP</a:t>
            </a:r>
            <a:endParaRPr lang="en-US" sz="1300" dirty="0"/>
          </a:p>
        </p:txBody>
      </p:sp>
      <p:sp>
        <p:nvSpPr>
          <p:cNvPr id="14" name="seta2"/>
          <p:cNvSpPr/>
          <p:nvPr/>
        </p:nvSpPr>
        <p:spPr>
          <a:xfrm>
            <a:off x="7141464" y="3017520"/>
            <a:ext cx="219456" cy="292608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5" name="Shape 13"/>
          <p:cNvSpPr/>
          <p:nvPr/>
        </p:nvSpPr>
        <p:spPr>
          <a:xfrm>
            <a:off x="7406640" y="1828800"/>
            <a:ext cx="1965960" cy="26517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8952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Avaliação de marca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269748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Zero-shot (tem preço? pessoa? kit?) e LLM multimodal com a rubrica do time</a:t>
            </a:r>
            <a:endParaRPr lang="en-US" sz="1300" dirty="0"/>
          </a:p>
        </p:txBody>
      </p:sp>
      <p:sp>
        <p:nvSpPr>
          <p:cNvPr id="18" name="seta3"/>
          <p:cNvSpPr/>
          <p:nvPr/>
        </p:nvSpPr>
        <p:spPr>
          <a:xfrm>
            <a:off x="9427464" y="3017520"/>
            <a:ext cx="219456" cy="292608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9" name="Shape 17"/>
          <p:cNvSpPr/>
          <p:nvPr/>
        </p:nvSpPr>
        <p:spPr>
          <a:xfrm>
            <a:off x="9692640" y="1828800"/>
            <a:ext cx="1965960" cy="2651760"/>
          </a:xfrm>
          <a:prstGeom prst="roundRect">
            <a:avLst>
              <a:gd name="adj" fmla="val 5581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75520" y="20116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Score 0-100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269748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Performance prevista + aderência à marca, no BI já usado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Ressalva obrigatória: </a:t>
            </a:r>
            <a:r>
              <a:rPr lang="en-US" sz="1500" dirty="0">
                <a:solidFill>
                  <a:schemeClr val="tx1"/>
                </a:solidFill>
              </a:rPr>
              <a:t>score correlacionado com CTR não prova causa. Um banner da Black Friday tem CTR alto por causa da data. O modelo controla posição e período, e o score só escala depois de validado em teste A/B.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MVP de 6 semanas com investimento liberado em etapas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394960" cy="226771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Recorte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Carrossel da home, últimos 6 meses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Time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pessoa de dados (meio período) + time do hackathon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Stack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Nuvem, BI e APIs de modelo já homologados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Sucesso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Quartil superior de score com CTR maior que o inferior, no teste</a:t>
                      </a:r>
                      <a:endParaRPr lang="en-US" sz="1400" dirty="0"/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206240"/>
            <a:ext cx="1691640" cy="178308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43434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MVP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754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6 semanas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1206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Score separa bons e ruins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77440" y="4206240"/>
            <a:ext cx="1691640" cy="17830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514600" y="43434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Piloto A/B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514600" y="4754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1 mês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514600" y="51206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CTR maior com o score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06240" y="4206240"/>
            <a:ext cx="1691640" cy="17830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343400" y="43434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Escala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343400" y="47548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contínuo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343400" y="51206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Outras posições e App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1600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Retorno: fórmula com premissas visíveis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309360" y="2103120"/>
            <a:ext cx="530352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92240" y="2148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sessões na home × ganho de CTR × conversão do clique × ticket médio</a:t>
            </a:r>
            <a:endParaRPr lang="en-US" sz="15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108960"/>
          <a:ext cx="530352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Cenário (hipotético)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+CTR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Conversão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Ganho/mês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Conservador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0,1 p.p.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3%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R$ 12 mil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Base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0,3 p.p.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4%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R$ 48 mil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Otimista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0,5 p.p.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5%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R$ 100 mil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6309360" y="48920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Premissas: 5 mi de sessões/mês e ticket de R$ 80 (App, Seção 1). Valores reais vêm do analytics. Custo: principalmente horas de pessoas; API na ordem de centenas de reais para centenas de imagens.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Riscos mapeados e a decisão que eu pediria à gestão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7665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Score aprende a data, não o banner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600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Controlar período e posição; validar com A/B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24328"/>
            <a:ext cx="67665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2432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Rubrica subjetiva demais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62432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Calibrar o LLM com 30 banners avaliados pelo time criativo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48456"/>
            <a:ext cx="67665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4845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Campanha não lançada exposta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64845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Processar só na stack homologada, sem ferramenta externa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72584"/>
            <a:ext cx="67665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67258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Time do hackathon desengajar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4672584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Dono da rubrica e do uso; demo a cada 2 semanas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80960" y="1600200"/>
            <a:ext cx="3931920" cy="3931920"/>
          </a:xfrm>
          <a:prstGeom prst="roundRect">
            <a:avLst>
              <a:gd name="adj" fmla="val 2791"/>
            </a:avLst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55280" y="182880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Decisão pedida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Aprovar 6 semanas de MVP com meio período de uma pessoa de dados e o time do hackathon.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Na semana 6, decidimos juntos se segue para o piloto A/B.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O que eu traria para o time no primeiro trimestre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77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3"/>
                </a:solidFill>
              </a:rPr>
              <a:t>Forecast diário em produção com ajuste comercial de eventos · régua de fechamento do dia ao meio-dia · MVP de banners na stack homologada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se Boticario">
  <a:themeElements>
    <a:clrScheme name="Case Boticario">
      <a:dk1>
        <a:srgbClr val="1F2622"/>
      </a:dk1>
      <a:lt1>
        <a:srgbClr val="FFFFFF"/>
      </a:lt1>
      <a:dk2>
        <a:srgbClr val="0B5A43"/>
      </a:dk2>
      <a:lt2>
        <a:srgbClr val="EEF4F1"/>
      </a:lt2>
      <a:accent1>
        <a:srgbClr val="0B5A43"/>
      </a:accent1>
      <a:accent2>
        <a:srgbClr val="E4572E"/>
      </a:accent2>
      <a:accent3>
        <a:srgbClr val="7FB8A4"/>
      </a:accent3>
      <a:accent4>
        <a:srgbClr val="4A4F4A"/>
      </a:accent4>
      <a:accent5>
        <a:srgbClr val="B8BDB5"/>
      </a:accent5>
      <a:accent6>
        <a:srgbClr val="F19C79"/>
      </a:accent6>
      <a:hlink>
        <a:srgbClr val="0B5A43"/>
      </a:hlink>
      <a:folHlink>
        <a:srgbClr val="4A4F4A"/>
      </a:folHlink>
    </a:clrScheme>
    <a:fontScheme name="Case Boticari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3360</Words>
  <Application>Microsoft Office PowerPoint</Application>
  <PresentationFormat>Widescreen</PresentationFormat>
  <Paragraphs>396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2" baseType="lpstr">
      <vt:lpstr>Arial</vt:lpstr>
      <vt:lpstr>Calibri</vt:lpstr>
      <vt:lpstr>Case Boticario</vt:lpstr>
      <vt:lpstr>Prever a venda diária e pontuar banners com IA</vt:lpstr>
      <vt:lpstr>Agenda: quatro blocos, cerca de 40 minutos e 20 para conversa</vt:lpstr>
      <vt:lpstr>Resumo executivo</vt:lpstr>
      <vt:lpstr>Antes de analisar: o que a base esconde</vt:lpstr>
      <vt:lpstr>Três problemas na base, tratados antes de qualquer gráfico</vt:lpstr>
      <vt:lpstr>O que os dados dizem</vt:lpstr>
      <vt:lpstr>Novembro fez 26% da receita de 8 meses; depois, o patamar é R$ 1,8 mi por dia</vt:lpstr>
      <vt:lpstr>Preço médio: a receita de novembro é volume comprado com desconto</vt:lpstr>
      <vt:lpstr>Black Friday é demanda comprada; Dia das Mães é demanda orgânica</vt:lpstr>
      <vt:lpstr>Sexta vende 10% acima da média; domingo, 22% abaixo</vt:lpstr>
      <vt:lpstr>Ao longo do dia: dois picos, 10h-14h e 20h-21h</vt:lpstr>
      <vt:lpstr>Em datas de presente muda o mix, não só o volume: Gifts triplica</vt:lpstr>
      <vt:lpstr>O App é o canal de volume e segue crescendo: de 72% para 79% da receita</vt:lpstr>
      <vt:lpstr>O que eu faria com esses insights a partir de amanhã</vt:lpstr>
      <vt:lpstr>Forecast da venda diária</vt:lpstr>
      <vt:lpstr>Com 242 dias, o desafio não é o algoritmo: é validar direito e lidar com eventos únicos</vt:lpstr>
      <vt:lpstr>Validação: o modelo sempre treina com o passado e é testado num mês que nunca viu</vt:lpstr>
      <vt:lpstr>Testei duas regras simples e dois modelos, do mais simples ao mais flexível</vt:lpstr>
      <vt:lpstr>O LightGBM erra 16% menos que a melhor regra simples</vt:lpstr>
      <vt:lpstr>O erro se concentra no Dia das Mães, que o modelo nunca viu no treino</vt:lpstr>
      <vt:lpstr>O que move a previsão: patamar recente, proximidade de data de presente e calendário</vt:lpstr>
      <vt:lpstr>Para planejar, uma faixa: primeira semana de julho entre R$ 11 e R$ 25 mi, mais provável R$ 14 mi</vt:lpstr>
      <vt:lpstr>Limitações assumidas e próximos passos</vt:lpstr>
      <vt:lpstr>IA para banners: inovação sem furar a governança</vt:lpstr>
      <vt:lpstr>Condução: proteger a ideia do time e a segurança do grupo ao mesmo tempo</vt:lpstr>
      <vt:lpstr>Arquitetura: cinco etapas, da imagem ao score no dashboard</vt:lpstr>
      <vt:lpstr>MVP de 6 semanas com investimento liberado em etapas</vt:lpstr>
      <vt:lpstr>Riscos mapeados e a decisão que eu pediria à gestão</vt:lpstr>
      <vt:lpstr>O que eu traria para o time no primeiro trimestre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Técnico Especialista de Dados I</dc:title>
  <dc:subject>PptxGenJS Presentation</dc:subject>
  <dc:creator>PptxGenJS</dc:creator>
  <cp:lastModifiedBy>VALESKA</cp:lastModifiedBy>
  <cp:revision>2</cp:revision>
  <dcterms:created xsi:type="dcterms:W3CDTF">2026-10-05T15:44:05Z</dcterms:created>
  <dcterms:modified xsi:type="dcterms:W3CDTF">2026-10-08T23:13:21Z</dcterms:modified>
</cp:coreProperties>
</file>